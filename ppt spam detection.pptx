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5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 type="screen4x3"/>
  <p:notesSz cx="9144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66" d="100"/>
          <a:sy n="66" d="100"/>
        </p:scale>
        <p:origin x="498" y="-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bg1"/>
                </a:solidFill>
                <a:latin typeface="Corbel"/>
                <a:cs typeface="Corbe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bg1"/>
                </a:solidFill>
                <a:latin typeface="Corbel"/>
                <a:cs typeface="Corbe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bg1"/>
                </a:solidFill>
                <a:latin typeface="Corbel"/>
                <a:cs typeface="Corbe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11/10/2025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bg1"/>
                </a:solidFill>
                <a:latin typeface="Corbel"/>
                <a:cs typeface="Corbe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11/10/2025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11/10/2025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0" y="0"/>
            <a:ext cx="9144000" cy="2602865"/>
          </a:xfrm>
          <a:custGeom>
            <a:avLst/>
            <a:gdLst/>
            <a:ahLst/>
            <a:cxnLst/>
            <a:rect l="l" t="t" r="r" b="b"/>
            <a:pathLst>
              <a:path w="9144000" h="2602865">
                <a:moveTo>
                  <a:pt x="9144000" y="0"/>
                </a:moveTo>
                <a:lnTo>
                  <a:pt x="0" y="0"/>
                </a:lnTo>
                <a:lnTo>
                  <a:pt x="0" y="2602484"/>
                </a:lnTo>
                <a:lnTo>
                  <a:pt x="9144000" y="2602484"/>
                </a:lnTo>
                <a:lnTo>
                  <a:pt x="9144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bg object 1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0" y="2578607"/>
            <a:ext cx="9144000" cy="112775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0" y="2602483"/>
            <a:ext cx="9144000" cy="45720"/>
          </a:xfrm>
          <a:custGeom>
            <a:avLst/>
            <a:gdLst/>
            <a:ahLst/>
            <a:cxnLst/>
            <a:rect l="l" t="t" r="r" b="b"/>
            <a:pathLst>
              <a:path w="9144000" h="45719">
                <a:moveTo>
                  <a:pt x="9144000" y="0"/>
                </a:moveTo>
                <a:lnTo>
                  <a:pt x="0" y="0"/>
                </a:lnTo>
                <a:lnTo>
                  <a:pt x="0" y="45720"/>
                </a:lnTo>
                <a:lnTo>
                  <a:pt x="9144000" y="45720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17270" y="2674111"/>
            <a:ext cx="6139815" cy="8788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bg1"/>
                </a:solidFill>
                <a:latin typeface="Corbel"/>
                <a:cs typeface="Corbe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57200" y="1577340"/>
            <a:ext cx="82296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5.jpg"/><Relationship Id="rId4" Type="http://schemas.openxmlformats.org/officeDocument/2006/relationships/image" Target="../media/image14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8.jp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533400"/>
            <a:ext cx="9144000" cy="1169551"/>
          </a:xfrm>
        </p:spPr>
        <p:txBody>
          <a:bodyPr/>
          <a:lstStyle/>
          <a:p>
            <a:r>
              <a:rPr lang="en-IN" dirty="0" smtClean="0"/>
              <a:t>         </a:t>
            </a:r>
            <a:r>
              <a:rPr lang="en-IN" sz="3600" dirty="0" smtClean="0">
                <a:solidFill>
                  <a:srgbClr val="FFC000"/>
                </a:solidFill>
              </a:rPr>
              <a:t>GOVERNMENT ENGINEERING COLLEGE</a:t>
            </a:r>
            <a:r>
              <a:rPr lang="en-IN" sz="3200" dirty="0" smtClean="0">
                <a:solidFill>
                  <a:srgbClr val="FFC000"/>
                </a:solidFill>
              </a:rPr>
              <a:t/>
            </a:r>
            <a:br>
              <a:rPr lang="en-IN" sz="3200" dirty="0" smtClean="0">
                <a:solidFill>
                  <a:srgbClr val="FFC000"/>
                </a:solidFill>
              </a:rPr>
            </a:br>
            <a:r>
              <a:rPr lang="en-IN" sz="3200" dirty="0" smtClean="0">
                <a:solidFill>
                  <a:srgbClr val="FFC000"/>
                </a:solidFill>
              </a:rPr>
              <a:t>                                </a:t>
            </a:r>
            <a:r>
              <a:rPr lang="en-IN" sz="4000" dirty="0" smtClean="0">
                <a:solidFill>
                  <a:srgbClr val="FFC000"/>
                </a:solidFill>
              </a:rPr>
              <a:t>WEST CHAMPARAN</a:t>
            </a:r>
            <a:endParaRPr lang="en-IN" sz="3200" dirty="0">
              <a:solidFill>
                <a:srgbClr val="FFC00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4"/>
          </p:nvPr>
        </p:nvSpPr>
        <p:spPr>
          <a:xfrm>
            <a:off x="152400" y="3840480"/>
            <a:ext cx="8839200" cy="1969770"/>
          </a:xfrm>
        </p:spPr>
        <p:txBody>
          <a:bodyPr/>
          <a:lstStyle/>
          <a:p>
            <a:r>
              <a:rPr lang="en-US" sz="3200" dirty="0" smtClean="0">
                <a:solidFill>
                  <a:schemeClr val="bg1"/>
                </a:solidFill>
              </a:rPr>
              <a:t>   </a:t>
            </a:r>
          </a:p>
          <a:p>
            <a:r>
              <a:rPr lang="en-US" sz="3200" dirty="0" smtClean="0">
                <a:solidFill>
                  <a:schemeClr val="bg1"/>
                </a:solidFill>
              </a:rPr>
              <a:t>    Spam </a:t>
            </a:r>
            <a:r>
              <a:rPr lang="en-US" sz="3200" dirty="0">
                <a:solidFill>
                  <a:schemeClr val="bg1"/>
                </a:solidFill>
              </a:rPr>
              <a:t>Message Detection Using </a:t>
            </a:r>
            <a:r>
              <a:rPr lang="en-US" sz="3200" dirty="0" smtClean="0">
                <a:solidFill>
                  <a:schemeClr val="bg1"/>
                </a:solidFill>
              </a:rPr>
              <a:t>Machine Learning</a:t>
            </a:r>
          </a:p>
          <a:p>
            <a:endParaRPr lang="en-US" sz="3200" dirty="0">
              <a:solidFill>
                <a:schemeClr val="bg1"/>
              </a:solidFill>
            </a:endParaRPr>
          </a:p>
          <a:p>
            <a:r>
              <a:rPr lang="en-US" sz="3200" dirty="0" smtClean="0">
                <a:solidFill>
                  <a:schemeClr val="bg1"/>
                </a:solidFill>
              </a:rPr>
              <a:t>                          </a:t>
            </a:r>
            <a:endParaRPr lang="en-IN" sz="2400" dirty="0">
              <a:solidFill>
                <a:schemeClr val="bg1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4200" y="1828801"/>
            <a:ext cx="2895600" cy="1676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57972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6017"/>
            <a:ext cx="9144000" cy="6858000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0" y="-41274"/>
            <a:ext cx="9144000" cy="5218175"/>
            <a:chOff x="0" y="0"/>
            <a:chExt cx="9144000" cy="5218430"/>
          </a:xfrm>
        </p:grpSpPr>
        <p:sp>
          <p:nvSpPr>
            <p:cNvPr id="4" name="object 4"/>
            <p:cNvSpPr/>
            <p:nvPr/>
          </p:nvSpPr>
          <p:spPr>
            <a:xfrm>
              <a:off x="0" y="0"/>
              <a:ext cx="9144000" cy="5135880"/>
            </a:xfrm>
            <a:custGeom>
              <a:avLst/>
              <a:gdLst/>
              <a:ahLst/>
              <a:cxnLst/>
              <a:rect l="l" t="t" r="r" b="b"/>
              <a:pathLst>
                <a:path w="9144000" h="5135880">
                  <a:moveTo>
                    <a:pt x="9144000" y="0"/>
                  </a:moveTo>
                  <a:lnTo>
                    <a:pt x="0" y="0"/>
                  </a:lnTo>
                  <a:lnTo>
                    <a:pt x="0" y="5135372"/>
                  </a:lnTo>
                  <a:lnTo>
                    <a:pt x="9144000" y="5135372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5105400"/>
              <a:ext cx="9144000" cy="11277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5128386"/>
              <a:ext cx="9144000" cy="45720"/>
            </a:xfrm>
            <a:custGeom>
              <a:avLst/>
              <a:gdLst/>
              <a:ahLst/>
              <a:cxnLst/>
              <a:rect l="l" t="t" r="r" b="b"/>
              <a:pathLst>
                <a:path w="9144000" h="45720">
                  <a:moveTo>
                    <a:pt x="9144000" y="0"/>
                  </a:moveTo>
                  <a:lnTo>
                    <a:pt x="0" y="0"/>
                  </a:lnTo>
                  <a:lnTo>
                    <a:pt x="0" y="45719"/>
                  </a:lnTo>
                  <a:lnTo>
                    <a:pt x="9144000" y="45719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5716" y="609600"/>
              <a:ext cx="7664196" cy="1289303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4724400" y="3465017"/>
            <a:ext cx="4419600" cy="283346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IN" sz="2800" dirty="0" smtClean="0">
                <a:solidFill>
                  <a:srgbClr val="FFFFFF"/>
                </a:solidFill>
                <a:latin typeface="Corbel"/>
                <a:cs typeface="Corbel"/>
              </a:rPr>
              <a:t>Presented to-</a:t>
            </a: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IN" sz="2800" dirty="0" smtClean="0">
                <a:solidFill>
                  <a:srgbClr val="FFFFFF"/>
                </a:solidFill>
                <a:latin typeface="Corbel"/>
                <a:cs typeface="Corbel"/>
              </a:rPr>
              <a:t>DR. RAFEEQ AHMED SIR </a:t>
            </a: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endParaRPr lang="en-IN" sz="2800" dirty="0" smtClean="0">
              <a:solidFill>
                <a:srgbClr val="FFFFFF"/>
              </a:solidFill>
              <a:latin typeface="Corbel"/>
              <a:cs typeface="Corbel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IN" sz="2400" dirty="0" smtClean="0">
                <a:solidFill>
                  <a:srgbClr val="FFFFFF"/>
                </a:solidFill>
                <a:latin typeface="Corbel"/>
                <a:cs typeface="Corbel"/>
              </a:rPr>
              <a:t>By-</a:t>
            </a: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400" dirty="0" smtClean="0">
                <a:solidFill>
                  <a:srgbClr val="FFFFFF"/>
                </a:solidFill>
                <a:latin typeface="Corbel"/>
                <a:cs typeface="Corbel"/>
              </a:rPr>
              <a:t>RASHMI</a:t>
            </a:r>
            <a:r>
              <a:rPr sz="2400" spc="-75" dirty="0" smtClean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2400" spc="-10" dirty="0" smtClean="0">
                <a:solidFill>
                  <a:srgbClr val="FFFFFF"/>
                </a:solidFill>
                <a:latin typeface="Corbel"/>
                <a:cs typeface="Corbel"/>
              </a:rPr>
              <a:t>KUMARI</a:t>
            </a:r>
            <a:r>
              <a:rPr lang="en-IN" sz="2400" spc="-10" dirty="0" smtClean="0">
                <a:solidFill>
                  <a:srgbClr val="FFFFFF"/>
                </a:solidFill>
                <a:latin typeface="Corbel"/>
                <a:cs typeface="Corbel"/>
              </a:rPr>
              <a:t> (22152146049) &amp;     ANNU KUMARI (</a:t>
            </a:r>
            <a:r>
              <a:rPr lang="en-IN" sz="2400" spc="-10" dirty="0" smtClean="0">
                <a:solidFill>
                  <a:srgbClr val="FFFFFF"/>
                </a:solidFill>
                <a:latin typeface="Corbel"/>
                <a:cs typeface="Corbel"/>
              </a:rPr>
              <a:t>22152146050)</a:t>
            </a:r>
            <a:endParaRPr lang="en-IN" sz="2400" spc="-10" dirty="0" smtClean="0">
              <a:solidFill>
                <a:srgbClr val="FFFFFF"/>
              </a:solidFill>
              <a:latin typeface="Corbel"/>
              <a:cs typeface="Corbel"/>
            </a:endParaRPr>
          </a:p>
          <a:p>
            <a:pPr marL="12700" marR="5080">
              <a:lnSpc>
                <a:spcPct val="100000"/>
              </a:lnSpc>
              <a:spcBef>
                <a:spcPts val="5"/>
              </a:spcBef>
            </a:pPr>
            <a:r>
              <a:rPr sz="2400" spc="-30" dirty="0" smtClean="0">
                <a:solidFill>
                  <a:srgbClr val="FFFFFF"/>
                </a:solidFill>
                <a:latin typeface="Corbel"/>
                <a:cs typeface="Corbel"/>
              </a:rPr>
              <a:t>CSE(Cyber</a:t>
            </a:r>
            <a:r>
              <a:rPr sz="2400" spc="-70" dirty="0" smtClean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Corbel"/>
                <a:cs typeface="Corbel"/>
              </a:rPr>
              <a:t>Security</a:t>
            </a:r>
            <a:r>
              <a:rPr sz="2400" spc="-10" dirty="0" smtClean="0">
                <a:solidFill>
                  <a:srgbClr val="FFFFFF"/>
                </a:solidFill>
                <a:latin typeface="Corbel"/>
                <a:cs typeface="Corbel"/>
              </a:rPr>
              <a:t>)</a:t>
            </a:r>
            <a:endParaRPr sz="2800" dirty="0">
              <a:latin typeface="Corbel"/>
              <a:cs typeface="Corbe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964" y="417576"/>
            <a:ext cx="7490459" cy="1700784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313131" y="2607945"/>
            <a:ext cx="8416925" cy="398970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Clr>
                <a:srgbClr val="EFAC00"/>
              </a:buClr>
              <a:buSzPct val="80000"/>
              <a:buFont typeface="Arial MT"/>
              <a:buChar char="•"/>
              <a:tabLst>
                <a:tab pos="355600" algn="l"/>
              </a:tabLst>
            </a:pPr>
            <a:r>
              <a:rPr sz="2000" dirty="0">
                <a:solidFill>
                  <a:srgbClr val="FFFFFF"/>
                </a:solidFill>
                <a:latin typeface="Corbel"/>
                <a:cs typeface="Corbel"/>
              </a:rPr>
              <a:t>Unwanted</a:t>
            </a:r>
            <a:r>
              <a:rPr sz="2000" spc="-60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2000" dirty="0">
                <a:solidFill>
                  <a:srgbClr val="FFFFFF"/>
                </a:solidFill>
                <a:latin typeface="Corbel"/>
                <a:cs typeface="Corbel"/>
              </a:rPr>
              <a:t>or</a:t>
            </a:r>
            <a:r>
              <a:rPr sz="2000" spc="-30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2000" dirty="0">
                <a:solidFill>
                  <a:srgbClr val="FFFFFF"/>
                </a:solidFill>
                <a:latin typeface="Corbel"/>
                <a:cs typeface="Corbel"/>
              </a:rPr>
              <a:t>irrelevant</a:t>
            </a:r>
            <a:r>
              <a:rPr sz="2000" spc="-30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2000" dirty="0">
                <a:solidFill>
                  <a:srgbClr val="FFFFFF"/>
                </a:solidFill>
                <a:latin typeface="Corbel"/>
                <a:cs typeface="Corbel"/>
              </a:rPr>
              <a:t>messages</a:t>
            </a:r>
            <a:r>
              <a:rPr sz="2000" spc="-30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2000" dirty="0">
                <a:solidFill>
                  <a:srgbClr val="FFFFFF"/>
                </a:solidFill>
                <a:latin typeface="Corbel"/>
                <a:cs typeface="Corbel"/>
              </a:rPr>
              <a:t>sent</a:t>
            </a:r>
            <a:r>
              <a:rPr sz="2000" spc="-30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2000" dirty="0">
                <a:solidFill>
                  <a:srgbClr val="FFFFFF"/>
                </a:solidFill>
                <a:latin typeface="Corbel"/>
                <a:cs typeface="Corbel"/>
              </a:rPr>
              <a:t>in</a:t>
            </a:r>
            <a:r>
              <a:rPr sz="2000" spc="-55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2000" dirty="0">
                <a:solidFill>
                  <a:srgbClr val="FFFFFF"/>
                </a:solidFill>
                <a:latin typeface="Corbel"/>
                <a:cs typeface="Corbel"/>
              </a:rPr>
              <a:t>bulk</a:t>
            </a:r>
            <a:r>
              <a:rPr sz="2000" spc="-30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2000" dirty="0">
                <a:solidFill>
                  <a:srgbClr val="FFFFFF"/>
                </a:solidFill>
                <a:latin typeface="Corbel"/>
                <a:cs typeface="Corbel"/>
              </a:rPr>
              <a:t>over</a:t>
            </a:r>
            <a:r>
              <a:rPr sz="2000" spc="-35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2000" dirty="0">
                <a:solidFill>
                  <a:srgbClr val="FFFFFF"/>
                </a:solidFill>
                <a:latin typeface="Corbel"/>
                <a:cs typeface="Corbel"/>
              </a:rPr>
              <a:t>the</a:t>
            </a:r>
            <a:r>
              <a:rPr sz="2000" spc="-20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2000" dirty="0">
                <a:solidFill>
                  <a:srgbClr val="FFFFFF"/>
                </a:solidFill>
                <a:latin typeface="Corbel"/>
                <a:cs typeface="Corbel"/>
              </a:rPr>
              <a:t>internet.</a:t>
            </a:r>
            <a:r>
              <a:rPr sz="2000" spc="-35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2000" dirty="0">
                <a:solidFill>
                  <a:srgbClr val="FFFFFF"/>
                </a:solidFill>
                <a:latin typeface="Corbel"/>
                <a:cs typeface="Corbel"/>
              </a:rPr>
              <a:t>Includes</a:t>
            </a:r>
            <a:r>
              <a:rPr sz="2000" spc="-30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orbel"/>
                <a:cs typeface="Corbel"/>
              </a:rPr>
              <a:t>junk </a:t>
            </a:r>
            <a:r>
              <a:rPr sz="2000" dirty="0">
                <a:solidFill>
                  <a:srgbClr val="FFFFFF"/>
                </a:solidFill>
                <a:latin typeface="Corbel"/>
                <a:cs typeface="Corbel"/>
              </a:rPr>
              <a:t>emails,</a:t>
            </a:r>
            <a:r>
              <a:rPr sz="2000" spc="-45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2000" dirty="0">
                <a:solidFill>
                  <a:srgbClr val="FFFFFF"/>
                </a:solidFill>
                <a:latin typeface="Corbel"/>
                <a:cs typeface="Corbel"/>
              </a:rPr>
              <a:t>fake</a:t>
            </a:r>
            <a:r>
              <a:rPr sz="2000" spc="-30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2000" dirty="0">
                <a:solidFill>
                  <a:srgbClr val="FFFFFF"/>
                </a:solidFill>
                <a:latin typeface="Corbel"/>
                <a:cs typeface="Corbel"/>
              </a:rPr>
              <a:t>ads,</a:t>
            </a:r>
            <a:r>
              <a:rPr sz="2000" spc="-25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2000" dirty="0">
                <a:solidFill>
                  <a:srgbClr val="FFFFFF"/>
                </a:solidFill>
                <a:latin typeface="Corbel"/>
                <a:cs typeface="Corbel"/>
              </a:rPr>
              <a:t>phishing</a:t>
            </a:r>
            <a:r>
              <a:rPr sz="2000" spc="-70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2000" dirty="0">
                <a:solidFill>
                  <a:srgbClr val="FFFFFF"/>
                </a:solidFill>
                <a:latin typeface="Corbel"/>
                <a:cs typeface="Corbel"/>
              </a:rPr>
              <a:t>messages,</a:t>
            </a:r>
            <a:r>
              <a:rPr sz="2000" spc="-25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2000" dirty="0">
                <a:solidFill>
                  <a:srgbClr val="FFFFFF"/>
                </a:solidFill>
                <a:latin typeface="Corbel"/>
                <a:cs typeface="Corbel"/>
              </a:rPr>
              <a:t>and</a:t>
            </a:r>
            <a:r>
              <a:rPr sz="2000" spc="-50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2000" dirty="0">
                <a:solidFill>
                  <a:srgbClr val="FFFFFF"/>
                </a:solidFill>
                <a:latin typeface="Corbel"/>
                <a:cs typeface="Corbel"/>
              </a:rPr>
              <a:t>harmful</a:t>
            </a:r>
            <a:r>
              <a:rPr sz="2000" spc="-25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orbel"/>
                <a:cs typeface="Corbel"/>
              </a:rPr>
              <a:t>links</a:t>
            </a:r>
            <a:endParaRPr sz="2000" dirty="0">
              <a:latin typeface="Corbel"/>
              <a:cs typeface="Corbel"/>
            </a:endParaRPr>
          </a:p>
          <a:p>
            <a:pPr marL="12700">
              <a:lnSpc>
                <a:spcPct val="100000"/>
              </a:lnSpc>
              <a:spcBef>
                <a:spcPts val="2400"/>
              </a:spcBef>
            </a:pPr>
            <a:r>
              <a:rPr sz="2000" dirty="0">
                <a:solidFill>
                  <a:srgbClr val="FFFFFF"/>
                </a:solidFill>
                <a:latin typeface="Corbel"/>
                <a:cs typeface="Corbel"/>
              </a:rPr>
              <a:t>-</a:t>
            </a:r>
            <a:r>
              <a:rPr sz="2000" spc="-110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2000" dirty="0">
                <a:solidFill>
                  <a:srgbClr val="FFFFFF"/>
                </a:solidFill>
                <a:latin typeface="Corbel"/>
                <a:cs typeface="Corbel"/>
              </a:rPr>
              <a:t>Why</a:t>
            </a:r>
            <a:r>
              <a:rPr sz="2000" spc="-40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2000" dirty="0">
                <a:solidFill>
                  <a:srgbClr val="FFFFFF"/>
                </a:solidFill>
                <a:latin typeface="Corbel"/>
                <a:cs typeface="Corbel"/>
              </a:rPr>
              <a:t>is</a:t>
            </a:r>
            <a:r>
              <a:rPr sz="2000" spc="-20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2000" dirty="0">
                <a:solidFill>
                  <a:srgbClr val="FFFFFF"/>
                </a:solidFill>
                <a:latin typeface="Corbel"/>
                <a:cs typeface="Corbel"/>
              </a:rPr>
              <a:t>spam</a:t>
            </a:r>
            <a:r>
              <a:rPr sz="2000" spc="-30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2000" dirty="0">
                <a:solidFill>
                  <a:srgbClr val="FFFFFF"/>
                </a:solidFill>
                <a:latin typeface="Corbel"/>
                <a:cs typeface="Corbel"/>
              </a:rPr>
              <a:t>detection</a:t>
            </a:r>
            <a:r>
              <a:rPr sz="2000" spc="-20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orbel"/>
                <a:cs typeface="Corbel"/>
              </a:rPr>
              <a:t>important?</a:t>
            </a:r>
            <a:endParaRPr sz="2000" dirty="0">
              <a:latin typeface="Corbel"/>
              <a:cs typeface="Corbel"/>
            </a:endParaRPr>
          </a:p>
          <a:p>
            <a:pPr marL="354965" indent="-342265">
              <a:lnSpc>
                <a:spcPct val="100000"/>
              </a:lnSpc>
              <a:buClr>
                <a:srgbClr val="EFAC00"/>
              </a:buClr>
              <a:buSzPct val="80000"/>
              <a:buFont typeface="Arial MT"/>
              <a:buChar char="•"/>
              <a:tabLst>
                <a:tab pos="354965" algn="l"/>
              </a:tabLst>
            </a:pPr>
            <a:r>
              <a:rPr sz="2000" dirty="0">
                <a:solidFill>
                  <a:srgbClr val="FFFFFF"/>
                </a:solidFill>
                <a:latin typeface="Corbel"/>
                <a:cs typeface="Corbel"/>
              </a:rPr>
              <a:t>Protects</a:t>
            </a:r>
            <a:r>
              <a:rPr sz="2000" spc="-40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2000" dirty="0">
                <a:solidFill>
                  <a:srgbClr val="FFFFFF"/>
                </a:solidFill>
                <a:latin typeface="Corbel"/>
                <a:cs typeface="Corbel"/>
              </a:rPr>
              <a:t>users</a:t>
            </a:r>
            <a:r>
              <a:rPr sz="2000" spc="-40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2000" dirty="0">
                <a:solidFill>
                  <a:srgbClr val="FFFFFF"/>
                </a:solidFill>
                <a:latin typeface="Corbel"/>
                <a:cs typeface="Corbel"/>
              </a:rPr>
              <a:t>from</a:t>
            </a:r>
            <a:r>
              <a:rPr sz="2000" spc="-35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2000" b="1" dirty="0">
                <a:solidFill>
                  <a:srgbClr val="FFFFFF"/>
                </a:solidFill>
                <a:latin typeface="Corbel"/>
                <a:cs typeface="Corbel"/>
              </a:rPr>
              <a:t>fraud</a:t>
            </a:r>
            <a:r>
              <a:rPr sz="2000" b="1" spc="-50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2000" b="1" dirty="0">
                <a:solidFill>
                  <a:srgbClr val="FFFFFF"/>
                </a:solidFill>
                <a:latin typeface="Corbel"/>
                <a:cs typeface="Corbel"/>
              </a:rPr>
              <a:t>and</a:t>
            </a:r>
            <a:r>
              <a:rPr sz="2000" b="1" spc="-55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2000" b="1" dirty="0">
                <a:solidFill>
                  <a:srgbClr val="FFFFFF"/>
                </a:solidFill>
                <a:latin typeface="Corbel"/>
                <a:cs typeface="Corbel"/>
              </a:rPr>
              <a:t>phishing</a:t>
            </a:r>
            <a:r>
              <a:rPr sz="2000" b="1" spc="-35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2000" b="1" spc="-10" dirty="0">
                <a:solidFill>
                  <a:srgbClr val="FFFFFF"/>
                </a:solidFill>
                <a:latin typeface="Corbel"/>
                <a:cs typeface="Corbel"/>
              </a:rPr>
              <a:t>attacks</a:t>
            </a:r>
            <a:r>
              <a:rPr sz="2000" spc="-10" dirty="0">
                <a:solidFill>
                  <a:srgbClr val="FFFFFF"/>
                </a:solidFill>
                <a:latin typeface="Corbel"/>
                <a:cs typeface="Corbel"/>
              </a:rPr>
              <a:t>.</a:t>
            </a:r>
            <a:endParaRPr sz="2000" dirty="0">
              <a:latin typeface="Corbel"/>
              <a:cs typeface="Corbel"/>
            </a:endParaRPr>
          </a:p>
          <a:p>
            <a:pPr marL="354965" indent="-342265">
              <a:lnSpc>
                <a:spcPct val="100000"/>
              </a:lnSpc>
              <a:buClr>
                <a:srgbClr val="EFAC00"/>
              </a:buClr>
              <a:buSzPct val="80000"/>
              <a:buFont typeface="Arial MT"/>
              <a:buChar char="•"/>
              <a:tabLst>
                <a:tab pos="354965" algn="l"/>
              </a:tabLst>
            </a:pPr>
            <a:r>
              <a:rPr sz="2000" dirty="0">
                <a:solidFill>
                  <a:srgbClr val="FFFFFF"/>
                </a:solidFill>
                <a:latin typeface="Corbel"/>
                <a:cs typeface="Corbel"/>
              </a:rPr>
              <a:t>Saves</a:t>
            </a:r>
            <a:r>
              <a:rPr sz="2000" spc="-35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2000" b="1" dirty="0">
                <a:solidFill>
                  <a:srgbClr val="FFFFFF"/>
                </a:solidFill>
                <a:latin typeface="Corbel"/>
                <a:cs typeface="Corbel"/>
              </a:rPr>
              <a:t>time</a:t>
            </a:r>
            <a:r>
              <a:rPr sz="2000" b="1" spc="-25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2000" b="1" dirty="0">
                <a:solidFill>
                  <a:srgbClr val="FFFFFF"/>
                </a:solidFill>
                <a:latin typeface="Corbel"/>
                <a:cs typeface="Corbel"/>
              </a:rPr>
              <a:t>and</a:t>
            </a:r>
            <a:r>
              <a:rPr sz="2000" b="1" spc="-35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2000" b="1" dirty="0">
                <a:solidFill>
                  <a:srgbClr val="FFFFFF"/>
                </a:solidFill>
                <a:latin typeface="Corbel"/>
                <a:cs typeface="Corbel"/>
              </a:rPr>
              <a:t>storage</a:t>
            </a:r>
            <a:r>
              <a:rPr sz="2000" b="1" spc="-15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2000" b="1" spc="-10" dirty="0">
                <a:solidFill>
                  <a:srgbClr val="FFFFFF"/>
                </a:solidFill>
                <a:latin typeface="Corbel"/>
                <a:cs typeface="Corbel"/>
              </a:rPr>
              <a:t>space</a:t>
            </a:r>
            <a:r>
              <a:rPr sz="2000" spc="-10" dirty="0">
                <a:solidFill>
                  <a:srgbClr val="FFFFFF"/>
                </a:solidFill>
                <a:latin typeface="Corbel"/>
                <a:cs typeface="Corbel"/>
              </a:rPr>
              <a:t>.</a:t>
            </a:r>
            <a:endParaRPr sz="2000" dirty="0">
              <a:latin typeface="Corbel"/>
              <a:cs typeface="Corbel"/>
            </a:endParaRPr>
          </a:p>
          <a:p>
            <a:pPr marL="354965" indent="-342265">
              <a:lnSpc>
                <a:spcPct val="100000"/>
              </a:lnSpc>
              <a:buClr>
                <a:srgbClr val="EFAC00"/>
              </a:buClr>
              <a:buSzPct val="80000"/>
              <a:buFont typeface="Arial MT"/>
              <a:buChar char="•"/>
              <a:tabLst>
                <a:tab pos="354965" algn="l"/>
              </a:tabLst>
            </a:pPr>
            <a:r>
              <a:rPr sz="2000" spc="-10" dirty="0">
                <a:solidFill>
                  <a:srgbClr val="FFFFFF"/>
                </a:solidFill>
                <a:latin typeface="Corbel"/>
                <a:cs typeface="Corbel"/>
              </a:rPr>
              <a:t>Prevents</a:t>
            </a:r>
            <a:r>
              <a:rPr sz="2000" spc="-20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2000" b="1" dirty="0">
                <a:solidFill>
                  <a:srgbClr val="FFFFFF"/>
                </a:solidFill>
                <a:latin typeface="Corbel"/>
                <a:cs typeface="Corbel"/>
              </a:rPr>
              <a:t>malware</a:t>
            </a:r>
            <a:r>
              <a:rPr sz="2000" b="1" spc="-50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2000" b="1" dirty="0">
                <a:solidFill>
                  <a:srgbClr val="FFFFFF"/>
                </a:solidFill>
                <a:latin typeface="Corbel"/>
                <a:cs typeface="Corbel"/>
              </a:rPr>
              <a:t>or</a:t>
            </a:r>
            <a:r>
              <a:rPr sz="2000" b="1" spc="-15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2000" b="1" dirty="0">
                <a:solidFill>
                  <a:srgbClr val="FFFFFF"/>
                </a:solidFill>
                <a:latin typeface="Corbel"/>
                <a:cs typeface="Corbel"/>
              </a:rPr>
              <a:t>virus</a:t>
            </a:r>
            <a:r>
              <a:rPr sz="2000" b="1" spc="-30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2000" b="1" spc="-10" dirty="0">
                <a:solidFill>
                  <a:srgbClr val="FFFFFF"/>
                </a:solidFill>
                <a:latin typeface="Corbel"/>
                <a:cs typeface="Corbel"/>
              </a:rPr>
              <a:t>infections</a:t>
            </a:r>
            <a:r>
              <a:rPr sz="2000" spc="-10" dirty="0">
                <a:solidFill>
                  <a:srgbClr val="FFFFFF"/>
                </a:solidFill>
                <a:latin typeface="Corbel"/>
                <a:cs typeface="Corbel"/>
              </a:rPr>
              <a:t>.</a:t>
            </a:r>
            <a:endParaRPr sz="2000" dirty="0">
              <a:latin typeface="Corbel"/>
              <a:cs typeface="Corbel"/>
            </a:endParaRPr>
          </a:p>
          <a:p>
            <a:pPr marL="354965" indent="-342265">
              <a:lnSpc>
                <a:spcPct val="100000"/>
              </a:lnSpc>
              <a:buClr>
                <a:srgbClr val="EFAC00"/>
              </a:buClr>
              <a:buSzPct val="80000"/>
              <a:buFont typeface="Arial MT"/>
              <a:buChar char="•"/>
              <a:tabLst>
                <a:tab pos="354965" algn="l"/>
              </a:tabLst>
            </a:pPr>
            <a:r>
              <a:rPr sz="2000" dirty="0">
                <a:solidFill>
                  <a:srgbClr val="FFFFFF"/>
                </a:solidFill>
                <a:latin typeface="Corbel"/>
                <a:cs typeface="Corbel"/>
              </a:rPr>
              <a:t>Keeps</a:t>
            </a:r>
            <a:r>
              <a:rPr sz="2000" spc="-35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2000" dirty="0">
                <a:solidFill>
                  <a:srgbClr val="FFFFFF"/>
                </a:solidFill>
                <a:latin typeface="Corbel"/>
                <a:cs typeface="Corbel"/>
              </a:rPr>
              <a:t>your</a:t>
            </a:r>
            <a:r>
              <a:rPr sz="2000" spc="-25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2000" b="1" dirty="0">
                <a:solidFill>
                  <a:srgbClr val="FFFFFF"/>
                </a:solidFill>
                <a:latin typeface="Corbel"/>
                <a:cs typeface="Corbel"/>
              </a:rPr>
              <a:t>inbox</a:t>
            </a:r>
            <a:r>
              <a:rPr sz="2000" b="1" spc="-50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2000" b="1" dirty="0">
                <a:solidFill>
                  <a:srgbClr val="FFFFFF"/>
                </a:solidFill>
                <a:latin typeface="Corbel"/>
                <a:cs typeface="Corbel"/>
              </a:rPr>
              <a:t>clean</a:t>
            </a:r>
            <a:r>
              <a:rPr sz="2000" b="1" spc="-45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2000" b="1" dirty="0">
                <a:solidFill>
                  <a:srgbClr val="FFFFFF"/>
                </a:solidFill>
                <a:latin typeface="Corbel"/>
                <a:cs typeface="Corbel"/>
              </a:rPr>
              <a:t>and</a:t>
            </a:r>
            <a:r>
              <a:rPr sz="2000" b="1" spc="-50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2000" b="1" spc="-10" dirty="0">
                <a:solidFill>
                  <a:srgbClr val="FFFFFF"/>
                </a:solidFill>
                <a:latin typeface="Corbel"/>
                <a:cs typeface="Corbel"/>
              </a:rPr>
              <a:t>organized</a:t>
            </a:r>
            <a:r>
              <a:rPr sz="2000" spc="-10" dirty="0">
                <a:solidFill>
                  <a:srgbClr val="FFFFFF"/>
                </a:solidFill>
                <a:latin typeface="Corbel"/>
                <a:cs typeface="Corbel"/>
              </a:rPr>
              <a:t>.</a:t>
            </a:r>
            <a:endParaRPr sz="2000" dirty="0">
              <a:latin typeface="Corbel"/>
              <a:cs typeface="Corbel"/>
            </a:endParaRPr>
          </a:p>
          <a:p>
            <a:pPr marL="12700">
              <a:lnSpc>
                <a:spcPct val="100000"/>
              </a:lnSpc>
              <a:spcBef>
                <a:spcPts val="2400"/>
              </a:spcBef>
            </a:pPr>
            <a:r>
              <a:rPr sz="2000" dirty="0">
                <a:solidFill>
                  <a:srgbClr val="FFFFFF"/>
                </a:solidFill>
                <a:latin typeface="Corbel"/>
                <a:cs typeface="Corbel"/>
              </a:rPr>
              <a:t>-</a:t>
            </a:r>
            <a:r>
              <a:rPr sz="2000" spc="-10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2000" dirty="0">
                <a:solidFill>
                  <a:srgbClr val="FFFFFF"/>
                </a:solidFill>
                <a:latin typeface="Corbel"/>
                <a:cs typeface="Corbel"/>
              </a:rPr>
              <a:t>How</a:t>
            </a:r>
            <a:r>
              <a:rPr sz="2000" spc="-15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2000" dirty="0">
                <a:solidFill>
                  <a:srgbClr val="FFFFFF"/>
                </a:solidFill>
                <a:latin typeface="Corbel"/>
                <a:cs typeface="Corbel"/>
              </a:rPr>
              <a:t>spam</a:t>
            </a:r>
            <a:r>
              <a:rPr sz="2000" spc="-30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2000" dirty="0">
                <a:solidFill>
                  <a:srgbClr val="FFFFFF"/>
                </a:solidFill>
                <a:latin typeface="Corbel"/>
                <a:cs typeface="Corbel"/>
              </a:rPr>
              <a:t>affects</a:t>
            </a:r>
            <a:r>
              <a:rPr sz="2000" spc="-10" dirty="0">
                <a:solidFill>
                  <a:srgbClr val="FFFFFF"/>
                </a:solidFill>
                <a:latin typeface="Corbel"/>
                <a:cs typeface="Corbel"/>
              </a:rPr>
              <a:t> users</a:t>
            </a:r>
            <a:endParaRPr sz="2000" dirty="0">
              <a:latin typeface="Corbel"/>
              <a:cs typeface="Corbel"/>
            </a:endParaRPr>
          </a:p>
          <a:p>
            <a:pPr marL="354965" indent="-342265">
              <a:lnSpc>
                <a:spcPct val="100000"/>
              </a:lnSpc>
              <a:spcBef>
                <a:spcPts val="5"/>
              </a:spcBef>
              <a:buClr>
                <a:srgbClr val="EFAC00"/>
              </a:buClr>
              <a:buSzPct val="80000"/>
              <a:buFont typeface="Arial MT"/>
              <a:buChar char="•"/>
              <a:tabLst>
                <a:tab pos="354965" algn="l"/>
              </a:tabLst>
            </a:pPr>
            <a:r>
              <a:rPr sz="2000" dirty="0">
                <a:solidFill>
                  <a:srgbClr val="FFFFFF"/>
                </a:solidFill>
                <a:latin typeface="Corbel"/>
                <a:cs typeface="Corbel"/>
              </a:rPr>
              <a:t>Leads</a:t>
            </a:r>
            <a:r>
              <a:rPr sz="2000" spc="-20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2000" dirty="0">
                <a:solidFill>
                  <a:srgbClr val="FFFFFF"/>
                </a:solidFill>
                <a:latin typeface="Corbel"/>
                <a:cs typeface="Corbel"/>
              </a:rPr>
              <a:t>to</a:t>
            </a:r>
            <a:r>
              <a:rPr sz="2000" spc="-20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2000" b="1" dirty="0">
                <a:solidFill>
                  <a:srgbClr val="FFFFFF"/>
                </a:solidFill>
                <a:latin typeface="Corbel"/>
                <a:cs typeface="Corbel"/>
              </a:rPr>
              <a:t>financial</a:t>
            </a:r>
            <a:r>
              <a:rPr sz="2000" b="1" spc="-50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2000" b="1" dirty="0">
                <a:solidFill>
                  <a:srgbClr val="FFFFFF"/>
                </a:solidFill>
                <a:latin typeface="Corbel"/>
                <a:cs typeface="Corbel"/>
              </a:rPr>
              <a:t>losses</a:t>
            </a:r>
            <a:r>
              <a:rPr sz="2000" b="1" spc="-35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2000" dirty="0">
                <a:solidFill>
                  <a:srgbClr val="FFFFFF"/>
                </a:solidFill>
                <a:latin typeface="Corbel"/>
                <a:cs typeface="Corbel"/>
              </a:rPr>
              <a:t>through</a:t>
            </a:r>
            <a:r>
              <a:rPr sz="2000" spc="-15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orbel"/>
                <a:cs typeface="Corbel"/>
              </a:rPr>
              <a:t>scams.</a:t>
            </a:r>
            <a:endParaRPr sz="2000" dirty="0">
              <a:latin typeface="Corbel"/>
              <a:cs typeface="Corbel"/>
            </a:endParaRPr>
          </a:p>
          <a:p>
            <a:pPr marL="354965" indent="-342265">
              <a:lnSpc>
                <a:spcPct val="100000"/>
              </a:lnSpc>
              <a:buClr>
                <a:srgbClr val="EFAC00"/>
              </a:buClr>
              <a:buSzPct val="80000"/>
              <a:buFont typeface="Arial MT"/>
              <a:buChar char="•"/>
              <a:tabLst>
                <a:tab pos="354965" algn="l"/>
              </a:tabLst>
            </a:pPr>
            <a:r>
              <a:rPr sz="2000" dirty="0">
                <a:solidFill>
                  <a:srgbClr val="FFFFFF"/>
                </a:solidFill>
                <a:latin typeface="Corbel"/>
                <a:cs typeface="Corbel"/>
              </a:rPr>
              <a:t>Steals</a:t>
            </a:r>
            <a:r>
              <a:rPr sz="2000" spc="-40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2000" b="1" dirty="0">
                <a:solidFill>
                  <a:srgbClr val="FFFFFF"/>
                </a:solidFill>
                <a:latin typeface="Corbel"/>
                <a:cs typeface="Corbel"/>
              </a:rPr>
              <a:t>personal</a:t>
            </a:r>
            <a:r>
              <a:rPr sz="2000" b="1" spc="-55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2000" b="1" dirty="0">
                <a:solidFill>
                  <a:srgbClr val="FFFFFF"/>
                </a:solidFill>
                <a:latin typeface="Corbel"/>
                <a:cs typeface="Corbel"/>
              </a:rPr>
              <a:t>or</a:t>
            </a:r>
            <a:r>
              <a:rPr sz="2000" b="1" spc="-25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2000" b="1" dirty="0">
                <a:solidFill>
                  <a:srgbClr val="FFFFFF"/>
                </a:solidFill>
                <a:latin typeface="Corbel"/>
                <a:cs typeface="Corbel"/>
              </a:rPr>
              <a:t>sensitive</a:t>
            </a:r>
            <a:r>
              <a:rPr sz="2000" b="1" spc="-60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2000" b="1" spc="-10" dirty="0">
                <a:solidFill>
                  <a:srgbClr val="FFFFFF"/>
                </a:solidFill>
                <a:latin typeface="Corbel"/>
                <a:cs typeface="Corbel"/>
              </a:rPr>
              <a:t>data</a:t>
            </a:r>
            <a:r>
              <a:rPr sz="2000" spc="-10" dirty="0">
                <a:solidFill>
                  <a:srgbClr val="FFFFFF"/>
                </a:solidFill>
                <a:latin typeface="Corbel"/>
                <a:cs typeface="Corbel"/>
              </a:rPr>
              <a:t>.</a:t>
            </a:r>
            <a:endParaRPr sz="2000" dirty="0">
              <a:latin typeface="Corbel"/>
              <a:cs typeface="Corbel"/>
            </a:endParaRPr>
          </a:p>
          <a:p>
            <a:pPr marL="354965" indent="-342265">
              <a:lnSpc>
                <a:spcPct val="100000"/>
              </a:lnSpc>
              <a:buClr>
                <a:srgbClr val="EFAC00"/>
              </a:buClr>
              <a:buSzPct val="80000"/>
              <a:buFont typeface="Arial MT"/>
              <a:buChar char="•"/>
              <a:tabLst>
                <a:tab pos="354965" algn="l"/>
              </a:tabLst>
            </a:pPr>
            <a:r>
              <a:rPr sz="2000" dirty="0">
                <a:solidFill>
                  <a:srgbClr val="FFFFFF"/>
                </a:solidFill>
                <a:latin typeface="Corbel"/>
                <a:cs typeface="Corbel"/>
              </a:rPr>
              <a:t>Can</a:t>
            </a:r>
            <a:r>
              <a:rPr sz="2000" spc="-55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2000" b="1" dirty="0">
                <a:solidFill>
                  <a:srgbClr val="FFFFFF"/>
                </a:solidFill>
                <a:latin typeface="Corbel"/>
                <a:cs typeface="Corbel"/>
              </a:rPr>
              <a:t>infect</a:t>
            </a:r>
            <a:r>
              <a:rPr sz="2000" b="1" spc="-40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2000" b="1" dirty="0">
                <a:solidFill>
                  <a:srgbClr val="FFFFFF"/>
                </a:solidFill>
                <a:latin typeface="Corbel"/>
                <a:cs typeface="Corbel"/>
              </a:rPr>
              <a:t>computers</a:t>
            </a:r>
            <a:r>
              <a:rPr sz="2000" b="1" spc="-50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2000" dirty="0">
                <a:solidFill>
                  <a:srgbClr val="FFFFFF"/>
                </a:solidFill>
                <a:latin typeface="Corbel"/>
                <a:cs typeface="Corbel"/>
              </a:rPr>
              <a:t>with</a:t>
            </a:r>
            <a:r>
              <a:rPr sz="2000" spc="-50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2000" dirty="0">
                <a:solidFill>
                  <a:srgbClr val="FFFFFF"/>
                </a:solidFill>
                <a:latin typeface="Corbel"/>
                <a:cs typeface="Corbel"/>
              </a:rPr>
              <a:t>viruses</a:t>
            </a:r>
            <a:r>
              <a:rPr sz="2000" spc="-30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2000" dirty="0">
                <a:solidFill>
                  <a:srgbClr val="FFFFFF"/>
                </a:solidFill>
                <a:latin typeface="Corbel"/>
                <a:cs typeface="Corbel"/>
              </a:rPr>
              <a:t>or</a:t>
            </a:r>
            <a:r>
              <a:rPr sz="2000" spc="-35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orbel"/>
                <a:cs typeface="Corbel"/>
              </a:rPr>
              <a:t>ransomware.</a:t>
            </a:r>
            <a:endParaRPr sz="2000" dirty="0">
              <a:latin typeface="Corbel"/>
              <a:cs typeface="Corbe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107" y="903732"/>
            <a:ext cx="8653272" cy="1728216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313131" y="2886913"/>
            <a:ext cx="7519670" cy="29533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120014" indent="233045">
              <a:lnSpc>
                <a:spcPct val="100000"/>
              </a:lnSpc>
              <a:spcBef>
                <a:spcPts val="105"/>
              </a:spcBef>
              <a:buChar char="•"/>
              <a:tabLst>
                <a:tab pos="245745" algn="l"/>
              </a:tabLst>
            </a:pPr>
            <a:r>
              <a:rPr sz="3200" spc="-85" dirty="0">
                <a:solidFill>
                  <a:srgbClr val="FFFFFF"/>
                </a:solidFill>
                <a:latin typeface="Corbel"/>
                <a:cs typeface="Corbel"/>
              </a:rPr>
              <a:t>To</a:t>
            </a:r>
            <a:r>
              <a:rPr sz="3200" spc="-35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3200" dirty="0">
                <a:solidFill>
                  <a:srgbClr val="FFFFFF"/>
                </a:solidFill>
                <a:latin typeface="Corbel"/>
                <a:cs typeface="Corbel"/>
              </a:rPr>
              <a:t>classify</a:t>
            </a:r>
            <a:r>
              <a:rPr sz="3200" spc="-35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3200" dirty="0">
                <a:solidFill>
                  <a:srgbClr val="FFFFFF"/>
                </a:solidFill>
                <a:latin typeface="Corbel"/>
                <a:cs typeface="Corbel"/>
              </a:rPr>
              <a:t>messages</a:t>
            </a:r>
            <a:r>
              <a:rPr sz="3200" spc="-55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3200" dirty="0">
                <a:solidFill>
                  <a:srgbClr val="FFFFFF"/>
                </a:solidFill>
                <a:latin typeface="Corbel"/>
                <a:cs typeface="Corbel"/>
              </a:rPr>
              <a:t>as</a:t>
            </a:r>
            <a:r>
              <a:rPr sz="3200" spc="-110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3200" dirty="0">
                <a:solidFill>
                  <a:srgbClr val="FFFFFF"/>
                </a:solidFill>
                <a:latin typeface="Corbel"/>
                <a:cs typeface="Corbel"/>
              </a:rPr>
              <a:t>Spam</a:t>
            </a:r>
            <a:r>
              <a:rPr sz="3200" spc="-45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3200" dirty="0">
                <a:solidFill>
                  <a:srgbClr val="FFFFFF"/>
                </a:solidFill>
                <a:latin typeface="Corbel"/>
                <a:cs typeface="Corbel"/>
              </a:rPr>
              <a:t>or</a:t>
            </a:r>
            <a:r>
              <a:rPr sz="3200" spc="-30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3200" dirty="0">
                <a:solidFill>
                  <a:srgbClr val="FFFFFF"/>
                </a:solidFill>
                <a:latin typeface="Corbel"/>
                <a:cs typeface="Corbel"/>
              </a:rPr>
              <a:t>Not</a:t>
            </a:r>
            <a:r>
              <a:rPr sz="3200" spc="-90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3200" spc="-20" dirty="0">
                <a:solidFill>
                  <a:srgbClr val="FFFFFF"/>
                </a:solidFill>
                <a:latin typeface="Corbel"/>
                <a:cs typeface="Corbel"/>
              </a:rPr>
              <a:t>Spam </a:t>
            </a:r>
            <a:r>
              <a:rPr sz="3200" dirty="0">
                <a:solidFill>
                  <a:srgbClr val="FFFFFF"/>
                </a:solidFill>
                <a:latin typeface="Corbel"/>
                <a:cs typeface="Corbel"/>
              </a:rPr>
              <a:t>using</a:t>
            </a:r>
            <a:r>
              <a:rPr sz="3200" spc="-45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3200" dirty="0">
                <a:solidFill>
                  <a:srgbClr val="FFFFFF"/>
                </a:solidFill>
                <a:latin typeface="Corbel"/>
                <a:cs typeface="Corbel"/>
              </a:rPr>
              <a:t>Machine</a:t>
            </a:r>
            <a:r>
              <a:rPr sz="3200" spc="-45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Corbel"/>
                <a:cs typeface="Corbel"/>
              </a:rPr>
              <a:t>Learning.</a:t>
            </a:r>
            <a:endParaRPr sz="3200">
              <a:latin typeface="Corbel"/>
              <a:cs typeface="Corbel"/>
            </a:endParaRPr>
          </a:p>
          <a:p>
            <a:pPr marL="12700" marR="5080" indent="233679">
              <a:lnSpc>
                <a:spcPct val="100000"/>
              </a:lnSpc>
              <a:buChar char="•"/>
              <a:tabLst>
                <a:tab pos="246379" algn="l"/>
              </a:tabLst>
            </a:pPr>
            <a:r>
              <a:rPr sz="3200" spc="-80" dirty="0">
                <a:solidFill>
                  <a:srgbClr val="FFFFFF"/>
                </a:solidFill>
                <a:latin typeface="Corbel"/>
                <a:cs typeface="Corbel"/>
              </a:rPr>
              <a:t>To</a:t>
            </a:r>
            <a:r>
              <a:rPr sz="3200" spc="-50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3200" dirty="0">
                <a:solidFill>
                  <a:srgbClr val="FFFFFF"/>
                </a:solidFill>
                <a:latin typeface="Corbel"/>
                <a:cs typeface="Corbel"/>
              </a:rPr>
              <a:t>automate</a:t>
            </a:r>
            <a:r>
              <a:rPr sz="3200" spc="-55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3200" dirty="0">
                <a:solidFill>
                  <a:srgbClr val="FFFFFF"/>
                </a:solidFill>
                <a:latin typeface="Corbel"/>
                <a:cs typeface="Corbel"/>
              </a:rPr>
              <a:t>the</a:t>
            </a:r>
            <a:r>
              <a:rPr sz="3200" spc="-55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3200" dirty="0">
                <a:solidFill>
                  <a:srgbClr val="FFFFFF"/>
                </a:solidFill>
                <a:latin typeface="Corbel"/>
                <a:cs typeface="Corbel"/>
              </a:rPr>
              <a:t>process</a:t>
            </a:r>
            <a:r>
              <a:rPr sz="3200" spc="-50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3200" dirty="0">
                <a:solidFill>
                  <a:srgbClr val="FFFFFF"/>
                </a:solidFill>
                <a:latin typeface="Corbel"/>
                <a:cs typeface="Corbel"/>
              </a:rPr>
              <a:t>of</a:t>
            </a:r>
            <a:r>
              <a:rPr sz="3200" spc="-40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3200" dirty="0">
                <a:solidFill>
                  <a:srgbClr val="FFFFFF"/>
                </a:solidFill>
                <a:latin typeface="Corbel"/>
                <a:cs typeface="Corbel"/>
              </a:rPr>
              <a:t>spam</a:t>
            </a:r>
            <a:r>
              <a:rPr sz="3200" spc="-55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Corbel"/>
                <a:cs typeface="Corbel"/>
              </a:rPr>
              <a:t>detection </a:t>
            </a:r>
            <a:r>
              <a:rPr sz="3200" dirty="0">
                <a:solidFill>
                  <a:srgbClr val="FFFFFF"/>
                </a:solidFill>
                <a:latin typeface="Corbel"/>
                <a:cs typeface="Corbel"/>
              </a:rPr>
              <a:t>with</a:t>
            </a:r>
            <a:r>
              <a:rPr sz="3200" spc="-45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3200" dirty="0">
                <a:solidFill>
                  <a:srgbClr val="FFFFFF"/>
                </a:solidFill>
                <a:latin typeface="Corbel"/>
                <a:cs typeface="Corbel"/>
              </a:rPr>
              <a:t>high</a:t>
            </a:r>
            <a:r>
              <a:rPr sz="3200" spc="-40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Corbel"/>
                <a:cs typeface="Corbel"/>
              </a:rPr>
              <a:t>accuracy.</a:t>
            </a:r>
            <a:endParaRPr sz="3200">
              <a:latin typeface="Corbel"/>
              <a:cs typeface="Corbel"/>
            </a:endParaRPr>
          </a:p>
          <a:p>
            <a:pPr marL="12700" marR="100330" indent="233679">
              <a:lnSpc>
                <a:spcPct val="100000"/>
              </a:lnSpc>
              <a:buChar char="•"/>
              <a:tabLst>
                <a:tab pos="246379" algn="l"/>
              </a:tabLst>
            </a:pPr>
            <a:r>
              <a:rPr sz="3200" spc="-80" dirty="0">
                <a:solidFill>
                  <a:srgbClr val="FFFFFF"/>
                </a:solidFill>
                <a:latin typeface="Corbel"/>
                <a:cs typeface="Corbel"/>
              </a:rPr>
              <a:t>To</a:t>
            </a:r>
            <a:r>
              <a:rPr sz="3200" spc="-20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3200" dirty="0">
                <a:solidFill>
                  <a:srgbClr val="FFFFFF"/>
                </a:solidFill>
                <a:latin typeface="Corbel"/>
                <a:cs typeface="Corbel"/>
              </a:rPr>
              <a:t>deploy</a:t>
            </a:r>
            <a:r>
              <a:rPr sz="3200" spc="-10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3200" dirty="0">
                <a:solidFill>
                  <a:srgbClr val="FFFFFF"/>
                </a:solidFill>
                <a:latin typeface="Corbel"/>
                <a:cs typeface="Corbel"/>
              </a:rPr>
              <a:t>the</a:t>
            </a:r>
            <a:r>
              <a:rPr sz="3200" spc="-45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3200" dirty="0">
                <a:solidFill>
                  <a:srgbClr val="FFFFFF"/>
                </a:solidFill>
                <a:latin typeface="Corbel"/>
                <a:cs typeface="Corbel"/>
              </a:rPr>
              <a:t>trained</a:t>
            </a:r>
            <a:r>
              <a:rPr sz="3200" spc="-35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3200" dirty="0">
                <a:solidFill>
                  <a:srgbClr val="FFFFFF"/>
                </a:solidFill>
                <a:latin typeface="Corbel"/>
                <a:cs typeface="Corbel"/>
              </a:rPr>
              <a:t>model</a:t>
            </a:r>
            <a:r>
              <a:rPr sz="3200" spc="-40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3200" dirty="0">
                <a:solidFill>
                  <a:srgbClr val="FFFFFF"/>
                </a:solidFill>
                <a:latin typeface="Corbel"/>
                <a:cs typeface="Corbel"/>
              </a:rPr>
              <a:t>using</a:t>
            </a:r>
            <a:r>
              <a:rPr sz="3200" spc="-15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3200" dirty="0">
                <a:solidFill>
                  <a:srgbClr val="FFFFFF"/>
                </a:solidFill>
                <a:latin typeface="Corbel"/>
                <a:cs typeface="Corbel"/>
              </a:rPr>
              <a:t>a</a:t>
            </a:r>
            <a:r>
              <a:rPr sz="3200" spc="-25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Corbel"/>
                <a:cs typeface="Corbel"/>
              </a:rPr>
              <a:t>simple </a:t>
            </a:r>
            <a:r>
              <a:rPr sz="3200" dirty="0">
                <a:solidFill>
                  <a:srgbClr val="FFFFFF"/>
                </a:solidFill>
                <a:latin typeface="Corbel"/>
                <a:cs typeface="Corbel"/>
              </a:rPr>
              <a:t>Gradio</a:t>
            </a:r>
            <a:r>
              <a:rPr sz="3200" spc="-25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3200" dirty="0">
                <a:solidFill>
                  <a:srgbClr val="FFFFFF"/>
                </a:solidFill>
                <a:latin typeface="Corbel"/>
                <a:cs typeface="Corbel"/>
              </a:rPr>
              <a:t>web</a:t>
            </a:r>
            <a:r>
              <a:rPr sz="3200" spc="-35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3200" spc="-20" dirty="0">
                <a:solidFill>
                  <a:srgbClr val="FFFFFF"/>
                </a:solidFill>
                <a:latin typeface="Corbel"/>
                <a:cs typeface="Corbel"/>
              </a:rPr>
              <a:t>app.</a:t>
            </a:r>
            <a:endParaRPr sz="3200">
              <a:latin typeface="Corbel"/>
              <a:cs typeface="Corbe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964" y="859536"/>
            <a:ext cx="8139683" cy="162763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01167" y="2953004"/>
            <a:ext cx="786130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dirty="0"/>
              <a:t>pie</a:t>
            </a:r>
            <a:r>
              <a:rPr sz="4000" spc="-70" dirty="0"/>
              <a:t> </a:t>
            </a:r>
            <a:r>
              <a:rPr sz="4000" dirty="0"/>
              <a:t>chart</a:t>
            </a:r>
            <a:r>
              <a:rPr sz="4000" spc="-50" dirty="0"/>
              <a:t> </a:t>
            </a:r>
            <a:r>
              <a:rPr sz="4000" dirty="0"/>
              <a:t>showing</a:t>
            </a:r>
            <a:r>
              <a:rPr sz="4000" spc="-55" dirty="0"/>
              <a:t> </a:t>
            </a:r>
            <a:r>
              <a:rPr sz="4000" dirty="0"/>
              <a:t>%</a:t>
            </a:r>
            <a:r>
              <a:rPr sz="4000" spc="-60" dirty="0"/>
              <a:t> </a:t>
            </a:r>
            <a:r>
              <a:rPr sz="4000" dirty="0"/>
              <a:t>of</a:t>
            </a:r>
            <a:r>
              <a:rPr sz="4000" spc="-145" dirty="0"/>
              <a:t> </a:t>
            </a:r>
            <a:r>
              <a:rPr sz="4000" dirty="0"/>
              <a:t>Spam</a:t>
            </a:r>
            <a:r>
              <a:rPr sz="4000" spc="-30" dirty="0"/>
              <a:t> </a:t>
            </a:r>
            <a:r>
              <a:rPr sz="4000" dirty="0"/>
              <a:t>vs</a:t>
            </a:r>
            <a:r>
              <a:rPr sz="4000" spc="-65" dirty="0"/>
              <a:t> </a:t>
            </a:r>
            <a:r>
              <a:rPr sz="4000" spc="-20" dirty="0"/>
              <a:t>Ham:</a:t>
            </a:r>
            <a:endParaRPr sz="4000"/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923919" y="3717048"/>
            <a:ext cx="5193919" cy="296494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3919" y="1171955"/>
            <a:ext cx="4924044" cy="573024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33604" y="2595829"/>
            <a:ext cx="8814435" cy="38671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75005" indent="-662305">
              <a:lnSpc>
                <a:spcPct val="100000"/>
              </a:lnSpc>
              <a:spcBef>
                <a:spcPts val="100"/>
              </a:spcBef>
              <a:buClr>
                <a:srgbClr val="EFAC00"/>
              </a:buClr>
              <a:buSzPct val="79166"/>
              <a:buFont typeface="Arial MT"/>
              <a:buChar char="•"/>
              <a:tabLst>
                <a:tab pos="675005" algn="l"/>
              </a:tabLst>
            </a:pPr>
            <a:r>
              <a:rPr sz="3600" dirty="0">
                <a:solidFill>
                  <a:srgbClr val="FFFFFF"/>
                </a:solidFill>
                <a:latin typeface="Corbel"/>
                <a:cs typeface="Corbel"/>
              </a:rPr>
              <a:t>Lowercasing</a:t>
            </a:r>
            <a:r>
              <a:rPr sz="3600" spc="-20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3600" dirty="0">
                <a:solidFill>
                  <a:srgbClr val="FFFFFF"/>
                </a:solidFill>
                <a:latin typeface="Corbel"/>
                <a:cs typeface="Corbel"/>
              </a:rPr>
              <a:t>the</a:t>
            </a:r>
            <a:r>
              <a:rPr sz="3600" spc="-5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3600" spc="-10" dirty="0">
                <a:solidFill>
                  <a:srgbClr val="FFFFFF"/>
                </a:solidFill>
                <a:latin typeface="Corbel"/>
                <a:cs typeface="Corbel"/>
              </a:rPr>
              <a:t>text.</a:t>
            </a:r>
            <a:endParaRPr sz="3600">
              <a:latin typeface="Corbel"/>
              <a:cs typeface="Corbel"/>
            </a:endParaRPr>
          </a:p>
          <a:p>
            <a:pPr marL="584200" marR="1647189" indent="-571500">
              <a:lnSpc>
                <a:spcPct val="100000"/>
              </a:lnSpc>
              <a:buChar char="•"/>
              <a:tabLst>
                <a:tab pos="584200" algn="l"/>
                <a:tab pos="675005" algn="l"/>
              </a:tabLst>
            </a:pPr>
            <a:r>
              <a:rPr sz="2850" dirty="0">
                <a:solidFill>
                  <a:srgbClr val="EFAC00"/>
                </a:solidFill>
                <a:latin typeface="Arial MT"/>
                <a:cs typeface="Arial MT"/>
              </a:rPr>
              <a:t>	</a:t>
            </a:r>
            <a:r>
              <a:rPr sz="3600" spc="-10" dirty="0">
                <a:solidFill>
                  <a:srgbClr val="FFFFFF"/>
                </a:solidFill>
                <a:latin typeface="Corbel"/>
                <a:cs typeface="Corbel"/>
              </a:rPr>
              <a:t>Removing</a:t>
            </a:r>
            <a:r>
              <a:rPr sz="3600" spc="-80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3600" spc="-10" dirty="0">
                <a:solidFill>
                  <a:srgbClr val="FFFFFF"/>
                </a:solidFill>
                <a:latin typeface="Corbel"/>
                <a:cs typeface="Corbel"/>
              </a:rPr>
              <a:t>punctuation</a:t>
            </a:r>
            <a:r>
              <a:rPr sz="3600" spc="-65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3600" dirty="0">
                <a:solidFill>
                  <a:srgbClr val="FFFFFF"/>
                </a:solidFill>
                <a:latin typeface="Corbel"/>
                <a:cs typeface="Corbel"/>
              </a:rPr>
              <a:t>and</a:t>
            </a:r>
            <a:r>
              <a:rPr sz="3600" spc="-70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3600" spc="-10" dirty="0">
                <a:solidFill>
                  <a:srgbClr val="FFFFFF"/>
                </a:solidFill>
                <a:latin typeface="Corbel"/>
                <a:cs typeface="Corbel"/>
              </a:rPr>
              <a:t>special characters.</a:t>
            </a:r>
            <a:endParaRPr sz="3600">
              <a:latin typeface="Corbel"/>
              <a:cs typeface="Corbel"/>
            </a:endParaRPr>
          </a:p>
          <a:p>
            <a:pPr marL="583565" indent="-570865">
              <a:lnSpc>
                <a:spcPct val="100000"/>
              </a:lnSpc>
              <a:spcBef>
                <a:spcPts val="5"/>
              </a:spcBef>
              <a:buClr>
                <a:srgbClr val="EFAC00"/>
              </a:buClr>
              <a:buSzPct val="79166"/>
              <a:buFont typeface="Arial MT"/>
              <a:buChar char="•"/>
              <a:tabLst>
                <a:tab pos="583565" algn="l"/>
              </a:tabLst>
            </a:pPr>
            <a:r>
              <a:rPr sz="3600" spc="-35" dirty="0">
                <a:solidFill>
                  <a:srgbClr val="FFFFFF"/>
                </a:solidFill>
                <a:latin typeface="Corbel"/>
                <a:cs typeface="Corbel"/>
              </a:rPr>
              <a:t>Tokenization</a:t>
            </a:r>
            <a:r>
              <a:rPr sz="3600" spc="-15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3600" dirty="0">
                <a:solidFill>
                  <a:srgbClr val="FFFFFF"/>
                </a:solidFill>
                <a:latin typeface="Corbel"/>
                <a:cs typeface="Corbel"/>
              </a:rPr>
              <a:t>and</a:t>
            </a:r>
            <a:r>
              <a:rPr sz="3600" spc="-40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3600" dirty="0">
                <a:solidFill>
                  <a:srgbClr val="FFFFFF"/>
                </a:solidFill>
                <a:latin typeface="Corbel"/>
                <a:cs typeface="Corbel"/>
              </a:rPr>
              <a:t>stopword</a:t>
            </a:r>
            <a:r>
              <a:rPr sz="3600" spc="-30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3600" spc="-10" dirty="0">
                <a:solidFill>
                  <a:srgbClr val="FFFFFF"/>
                </a:solidFill>
                <a:latin typeface="Corbel"/>
                <a:cs typeface="Corbel"/>
              </a:rPr>
              <a:t>removal.</a:t>
            </a:r>
            <a:endParaRPr sz="3600">
              <a:latin typeface="Corbel"/>
              <a:cs typeface="Corbel"/>
            </a:endParaRPr>
          </a:p>
          <a:p>
            <a:pPr marL="655320" indent="-642620">
              <a:lnSpc>
                <a:spcPct val="100000"/>
              </a:lnSpc>
              <a:buClr>
                <a:srgbClr val="EFAC00"/>
              </a:buClr>
              <a:buSzPct val="79166"/>
              <a:buFont typeface="Arial MT"/>
              <a:buChar char="•"/>
              <a:tabLst>
                <a:tab pos="655320" algn="l"/>
              </a:tabLst>
            </a:pPr>
            <a:r>
              <a:rPr sz="3600" dirty="0">
                <a:solidFill>
                  <a:srgbClr val="FFFFFF"/>
                </a:solidFill>
                <a:latin typeface="Corbel"/>
                <a:cs typeface="Corbel"/>
              </a:rPr>
              <a:t>Applying</a:t>
            </a:r>
            <a:r>
              <a:rPr sz="3600" spc="-90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3600" dirty="0">
                <a:solidFill>
                  <a:srgbClr val="FFFFFF"/>
                </a:solidFill>
                <a:latin typeface="Corbel"/>
                <a:cs typeface="Corbel"/>
              </a:rPr>
              <a:t>stemming</a:t>
            </a:r>
            <a:r>
              <a:rPr sz="3600" spc="-85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3600" dirty="0">
                <a:solidFill>
                  <a:srgbClr val="FFFFFF"/>
                </a:solidFill>
                <a:latin typeface="Corbel"/>
                <a:cs typeface="Corbel"/>
              </a:rPr>
              <a:t>using</a:t>
            </a:r>
            <a:r>
              <a:rPr sz="3600" spc="-90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3600" spc="-10" dirty="0">
                <a:solidFill>
                  <a:srgbClr val="FFFFFF"/>
                </a:solidFill>
                <a:latin typeface="Corbel"/>
                <a:cs typeface="Corbel"/>
              </a:rPr>
              <a:t>PorterStemmer.</a:t>
            </a:r>
            <a:endParaRPr sz="3600">
              <a:latin typeface="Corbel"/>
              <a:cs typeface="Corbel"/>
            </a:endParaRPr>
          </a:p>
          <a:p>
            <a:pPr marL="584200" marR="5080" indent="-571500">
              <a:lnSpc>
                <a:spcPct val="100000"/>
              </a:lnSpc>
              <a:buClr>
                <a:srgbClr val="EFAC00"/>
              </a:buClr>
              <a:buSzPct val="79166"/>
              <a:buFont typeface="Arial MT"/>
              <a:buChar char="•"/>
              <a:tabLst>
                <a:tab pos="584200" algn="l"/>
              </a:tabLst>
            </a:pPr>
            <a:r>
              <a:rPr sz="3600" dirty="0">
                <a:solidFill>
                  <a:srgbClr val="FFFFFF"/>
                </a:solidFill>
                <a:latin typeface="Corbel"/>
                <a:cs typeface="Corbel"/>
              </a:rPr>
              <a:t>Converting</a:t>
            </a:r>
            <a:r>
              <a:rPr sz="3600" spc="-45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3600" dirty="0">
                <a:solidFill>
                  <a:srgbClr val="FFFFFF"/>
                </a:solidFill>
                <a:latin typeface="Corbel"/>
                <a:cs typeface="Corbel"/>
              </a:rPr>
              <a:t>text</a:t>
            </a:r>
            <a:r>
              <a:rPr sz="3600" spc="-40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3600" dirty="0">
                <a:solidFill>
                  <a:srgbClr val="FFFFFF"/>
                </a:solidFill>
                <a:latin typeface="Corbel"/>
                <a:cs typeface="Corbel"/>
              </a:rPr>
              <a:t>to</a:t>
            </a:r>
            <a:r>
              <a:rPr sz="3600" spc="-25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3600" dirty="0">
                <a:solidFill>
                  <a:srgbClr val="FFFFFF"/>
                </a:solidFill>
                <a:latin typeface="Corbel"/>
                <a:cs typeface="Corbel"/>
              </a:rPr>
              <a:t>numerical</a:t>
            </a:r>
            <a:r>
              <a:rPr sz="3600" spc="-35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3600" dirty="0">
                <a:solidFill>
                  <a:srgbClr val="FFFFFF"/>
                </a:solidFill>
                <a:latin typeface="Corbel"/>
                <a:cs typeface="Corbel"/>
              </a:rPr>
              <a:t>form</a:t>
            </a:r>
            <a:r>
              <a:rPr sz="3600" spc="-15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3600" dirty="0">
                <a:solidFill>
                  <a:srgbClr val="FFFFFF"/>
                </a:solidFill>
                <a:latin typeface="Corbel"/>
                <a:cs typeface="Corbel"/>
              </a:rPr>
              <a:t>using</a:t>
            </a:r>
            <a:r>
              <a:rPr sz="3600" spc="-254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3600" spc="-25" dirty="0">
                <a:solidFill>
                  <a:srgbClr val="FFFFFF"/>
                </a:solidFill>
                <a:latin typeface="Corbel"/>
                <a:cs typeface="Corbel"/>
              </a:rPr>
              <a:t>TF- </a:t>
            </a:r>
            <a:r>
              <a:rPr sz="3600" spc="-20" dirty="0">
                <a:solidFill>
                  <a:srgbClr val="FFFFFF"/>
                </a:solidFill>
                <a:latin typeface="Corbel"/>
                <a:cs typeface="Corbel"/>
              </a:rPr>
              <a:t>IDF.</a:t>
            </a:r>
            <a:endParaRPr sz="3600">
              <a:latin typeface="Corbel"/>
              <a:cs typeface="Corbe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3919" y="333756"/>
            <a:ext cx="3797807" cy="573024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33604" y="2611627"/>
            <a:ext cx="8486775" cy="41421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4220"/>
              </a:lnSpc>
              <a:spcBef>
                <a:spcPts val="95"/>
              </a:spcBef>
            </a:pPr>
            <a:r>
              <a:rPr sz="3700" dirty="0">
                <a:solidFill>
                  <a:srgbClr val="FFFFFF"/>
                </a:solidFill>
                <a:latin typeface="Corbel"/>
                <a:cs typeface="Corbel"/>
              </a:rPr>
              <a:t>Algorithm</a:t>
            </a:r>
            <a:r>
              <a:rPr sz="3700" spc="-100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3700" dirty="0">
                <a:solidFill>
                  <a:srgbClr val="FFFFFF"/>
                </a:solidFill>
                <a:latin typeface="Corbel"/>
                <a:cs typeface="Corbel"/>
              </a:rPr>
              <a:t>used:</a:t>
            </a:r>
            <a:r>
              <a:rPr sz="3700" spc="-105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3700" dirty="0">
                <a:solidFill>
                  <a:srgbClr val="FFFFFF"/>
                </a:solidFill>
                <a:latin typeface="Corbel"/>
                <a:cs typeface="Corbel"/>
              </a:rPr>
              <a:t>Naive</a:t>
            </a:r>
            <a:r>
              <a:rPr sz="3700" spc="-100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3700" spc="-10" dirty="0">
                <a:solidFill>
                  <a:srgbClr val="FFFFFF"/>
                </a:solidFill>
                <a:latin typeface="Corbel"/>
                <a:cs typeface="Corbel"/>
              </a:rPr>
              <a:t>Bayes.</a:t>
            </a:r>
            <a:endParaRPr sz="3700" dirty="0">
              <a:latin typeface="Corbel"/>
              <a:cs typeface="Corbel"/>
            </a:endParaRPr>
          </a:p>
          <a:p>
            <a:pPr marL="12700" marR="5080" indent="269240">
              <a:lnSpc>
                <a:spcPts val="4000"/>
              </a:lnSpc>
              <a:spcBef>
                <a:spcPts val="275"/>
              </a:spcBef>
              <a:buChar char="•"/>
              <a:tabLst>
                <a:tab pos="281940" algn="l"/>
              </a:tabLst>
            </a:pPr>
            <a:r>
              <a:rPr sz="3700" spc="-10" dirty="0">
                <a:solidFill>
                  <a:srgbClr val="FFFFFF"/>
                </a:solidFill>
                <a:latin typeface="Corbel"/>
                <a:cs typeface="Corbel"/>
              </a:rPr>
              <a:t>TF-</a:t>
            </a:r>
            <a:r>
              <a:rPr sz="3700" spc="-30" dirty="0">
                <a:solidFill>
                  <a:srgbClr val="FFFFFF"/>
                </a:solidFill>
                <a:latin typeface="Corbel"/>
                <a:cs typeface="Corbel"/>
              </a:rPr>
              <a:t>IDF</a:t>
            </a:r>
            <a:r>
              <a:rPr sz="3700" spc="-245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3700" spc="-10" dirty="0">
                <a:solidFill>
                  <a:srgbClr val="FFFFFF"/>
                </a:solidFill>
                <a:latin typeface="Corbel"/>
                <a:cs typeface="Corbel"/>
              </a:rPr>
              <a:t>Vectorizer</a:t>
            </a:r>
            <a:r>
              <a:rPr sz="3700" spc="-114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3700" dirty="0">
                <a:solidFill>
                  <a:srgbClr val="FFFFFF"/>
                </a:solidFill>
                <a:latin typeface="Corbel"/>
                <a:cs typeface="Corbel"/>
              </a:rPr>
              <a:t>used</a:t>
            </a:r>
            <a:r>
              <a:rPr sz="3700" spc="-80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3700" dirty="0">
                <a:solidFill>
                  <a:srgbClr val="FFFFFF"/>
                </a:solidFill>
                <a:latin typeface="Corbel"/>
                <a:cs typeface="Corbel"/>
              </a:rPr>
              <a:t>to</a:t>
            </a:r>
            <a:r>
              <a:rPr sz="3700" spc="-90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3700" dirty="0">
                <a:solidFill>
                  <a:srgbClr val="FFFFFF"/>
                </a:solidFill>
                <a:latin typeface="Corbel"/>
                <a:cs typeface="Corbel"/>
              </a:rPr>
              <a:t>convert</a:t>
            </a:r>
            <a:r>
              <a:rPr sz="3700" spc="-75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3700" dirty="0">
                <a:solidFill>
                  <a:srgbClr val="FFFFFF"/>
                </a:solidFill>
                <a:latin typeface="Corbel"/>
                <a:cs typeface="Corbel"/>
              </a:rPr>
              <a:t>text</a:t>
            </a:r>
            <a:r>
              <a:rPr sz="3700" spc="-80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3700" spc="-20" dirty="0">
                <a:solidFill>
                  <a:srgbClr val="FFFFFF"/>
                </a:solidFill>
                <a:latin typeface="Corbel"/>
                <a:cs typeface="Corbel"/>
              </a:rPr>
              <a:t>into </a:t>
            </a:r>
            <a:r>
              <a:rPr sz="3700" dirty="0">
                <a:solidFill>
                  <a:srgbClr val="FFFFFF"/>
                </a:solidFill>
                <a:latin typeface="Corbel"/>
                <a:cs typeface="Corbel"/>
              </a:rPr>
              <a:t>feature</a:t>
            </a:r>
            <a:r>
              <a:rPr sz="3700" spc="-15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3700" spc="-10" dirty="0">
                <a:solidFill>
                  <a:srgbClr val="FFFFFF"/>
                </a:solidFill>
                <a:latin typeface="Corbel"/>
                <a:cs typeface="Corbel"/>
              </a:rPr>
              <a:t>vectors.</a:t>
            </a:r>
            <a:endParaRPr sz="3700" dirty="0">
              <a:latin typeface="Corbel"/>
              <a:cs typeface="Corbel"/>
            </a:endParaRPr>
          </a:p>
          <a:p>
            <a:pPr marL="313690" indent="-300990">
              <a:lnSpc>
                <a:spcPts val="3710"/>
              </a:lnSpc>
              <a:buChar char="•"/>
              <a:tabLst>
                <a:tab pos="313690" algn="l"/>
              </a:tabLst>
            </a:pPr>
            <a:r>
              <a:rPr sz="3700" dirty="0">
                <a:solidFill>
                  <a:srgbClr val="FFFFFF"/>
                </a:solidFill>
                <a:latin typeface="Corbel"/>
                <a:cs typeface="Corbel"/>
              </a:rPr>
              <a:t>Dataset</a:t>
            </a:r>
            <a:r>
              <a:rPr sz="3700" spc="-110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3700" dirty="0">
                <a:solidFill>
                  <a:srgbClr val="FFFFFF"/>
                </a:solidFill>
                <a:latin typeface="Corbel"/>
                <a:cs typeface="Corbel"/>
              </a:rPr>
              <a:t>split</a:t>
            </a:r>
            <a:r>
              <a:rPr sz="3700" spc="-80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3700" dirty="0">
                <a:solidFill>
                  <a:srgbClr val="FFFFFF"/>
                </a:solidFill>
                <a:latin typeface="Corbel"/>
                <a:cs typeface="Corbel"/>
              </a:rPr>
              <a:t>into</a:t>
            </a:r>
            <a:r>
              <a:rPr sz="3700" spc="-110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3700" dirty="0">
                <a:solidFill>
                  <a:srgbClr val="FFFFFF"/>
                </a:solidFill>
                <a:latin typeface="Corbel"/>
                <a:cs typeface="Corbel"/>
              </a:rPr>
              <a:t>training</a:t>
            </a:r>
            <a:r>
              <a:rPr sz="3700" spc="-80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3700" dirty="0">
                <a:solidFill>
                  <a:srgbClr val="FFFFFF"/>
                </a:solidFill>
                <a:latin typeface="Corbel"/>
                <a:cs typeface="Corbel"/>
              </a:rPr>
              <a:t>and</a:t>
            </a:r>
            <a:r>
              <a:rPr sz="3700" spc="-100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3700" dirty="0">
                <a:solidFill>
                  <a:srgbClr val="FFFFFF"/>
                </a:solidFill>
                <a:latin typeface="Corbel"/>
                <a:cs typeface="Corbel"/>
              </a:rPr>
              <a:t>testing</a:t>
            </a:r>
            <a:r>
              <a:rPr sz="3700" spc="-90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3700" spc="-20" dirty="0">
                <a:solidFill>
                  <a:srgbClr val="FFFFFF"/>
                </a:solidFill>
                <a:latin typeface="Corbel"/>
                <a:cs typeface="Corbel"/>
              </a:rPr>
              <a:t>sets</a:t>
            </a:r>
            <a:endParaRPr sz="3700" dirty="0">
              <a:latin typeface="Corbel"/>
              <a:cs typeface="Corbel"/>
            </a:endParaRPr>
          </a:p>
          <a:p>
            <a:pPr marL="12700">
              <a:lnSpc>
                <a:spcPts val="3995"/>
              </a:lnSpc>
            </a:pPr>
            <a:r>
              <a:rPr sz="3700" spc="-10" dirty="0">
                <a:solidFill>
                  <a:srgbClr val="FFFFFF"/>
                </a:solidFill>
                <a:latin typeface="Corbel"/>
                <a:cs typeface="Corbel"/>
              </a:rPr>
              <a:t>(50:49).</a:t>
            </a:r>
            <a:endParaRPr sz="3700" dirty="0">
              <a:latin typeface="Corbel"/>
              <a:cs typeface="Corbel"/>
            </a:endParaRPr>
          </a:p>
          <a:p>
            <a:pPr marL="12700" marR="618490" indent="288290">
              <a:lnSpc>
                <a:spcPts val="4000"/>
              </a:lnSpc>
              <a:spcBef>
                <a:spcPts val="280"/>
              </a:spcBef>
              <a:buChar char="•"/>
              <a:tabLst>
                <a:tab pos="300990" algn="l"/>
              </a:tabLst>
            </a:pPr>
            <a:r>
              <a:rPr sz="3700" dirty="0">
                <a:solidFill>
                  <a:srgbClr val="FFFFFF"/>
                </a:solidFill>
                <a:latin typeface="Corbel"/>
                <a:cs typeface="Corbel"/>
              </a:rPr>
              <a:t>SMOTE</a:t>
            </a:r>
            <a:r>
              <a:rPr sz="3700" spc="-95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3700" dirty="0">
                <a:solidFill>
                  <a:srgbClr val="FFFFFF"/>
                </a:solidFill>
                <a:latin typeface="Corbel"/>
                <a:cs typeface="Corbel"/>
              </a:rPr>
              <a:t>used</a:t>
            </a:r>
            <a:r>
              <a:rPr sz="3700" spc="-90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3700" dirty="0">
                <a:solidFill>
                  <a:srgbClr val="FFFFFF"/>
                </a:solidFill>
                <a:latin typeface="Corbel"/>
                <a:cs typeface="Corbel"/>
              </a:rPr>
              <a:t>to</a:t>
            </a:r>
            <a:r>
              <a:rPr sz="3700" spc="-80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3700" dirty="0">
                <a:solidFill>
                  <a:srgbClr val="FFFFFF"/>
                </a:solidFill>
                <a:latin typeface="Corbel"/>
                <a:cs typeface="Corbel"/>
              </a:rPr>
              <a:t>balance</a:t>
            </a:r>
            <a:r>
              <a:rPr sz="3700" spc="-75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3700" dirty="0">
                <a:solidFill>
                  <a:srgbClr val="FFFFFF"/>
                </a:solidFill>
                <a:latin typeface="Corbel"/>
                <a:cs typeface="Corbel"/>
              </a:rPr>
              <a:t>spam</a:t>
            </a:r>
            <a:r>
              <a:rPr sz="3700" spc="-90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3700" dirty="0">
                <a:solidFill>
                  <a:srgbClr val="FFFFFF"/>
                </a:solidFill>
                <a:latin typeface="Corbel"/>
                <a:cs typeface="Corbel"/>
              </a:rPr>
              <a:t>and</a:t>
            </a:r>
            <a:r>
              <a:rPr sz="3700" spc="-85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3700" spc="-25" dirty="0">
                <a:solidFill>
                  <a:srgbClr val="FFFFFF"/>
                </a:solidFill>
                <a:latin typeface="Corbel"/>
                <a:cs typeface="Corbel"/>
              </a:rPr>
              <a:t>ham </a:t>
            </a:r>
            <a:r>
              <a:rPr sz="3700" spc="-10" dirty="0">
                <a:solidFill>
                  <a:srgbClr val="FFFFFF"/>
                </a:solidFill>
                <a:latin typeface="Corbel"/>
                <a:cs typeface="Corbel"/>
              </a:rPr>
              <a:t>samples.</a:t>
            </a:r>
            <a:endParaRPr sz="3700" dirty="0">
              <a:latin typeface="Corbel"/>
              <a:cs typeface="Corbel"/>
            </a:endParaRPr>
          </a:p>
          <a:p>
            <a:pPr marL="313690" indent="-300990">
              <a:lnSpc>
                <a:spcPts val="3929"/>
              </a:lnSpc>
              <a:buChar char="•"/>
              <a:tabLst>
                <a:tab pos="313690" algn="l"/>
              </a:tabLst>
            </a:pPr>
            <a:r>
              <a:rPr sz="3700" dirty="0">
                <a:solidFill>
                  <a:srgbClr val="FFFFFF"/>
                </a:solidFill>
                <a:latin typeface="Corbel"/>
                <a:cs typeface="Corbel"/>
              </a:rPr>
              <a:t>Model</a:t>
            </a:r>
            <a:r>
              <a:rPr sz="3700" spc="-80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3700" dirty="0">
                <a:solidFill>
                  <a:srgbClr val="FFFFFF"/>
                </a:solidFill>
                <a:latin typeface="Corbel"/>
                <a:cs typeface="Corbel"/>
              </a:rPr>
              <a:t>trained</a:t>
            </a:r>
            <a:r>
              <a:rPr sz="3700" spc="-75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3700" dirty="0">
                <a:solidFill>
                  <a:srgbClr val="FFFFFF"/>
                </a:solidFill>
                <a:latin typeface="Corbel"/>
                <a:cs typeface="Corbel"/>
              </a:rPr>
              <a:t>to</a:t>
            </a:r>
            <a:r>
              <a:rPr sz="3700" spc="-90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3700" dirty="0">
                <a:solidFill>
                  <a:srgbClr val="FFFFFF"/>
                </a:solidFill>
                <a:latin typeface="Corbel"/>
                <a:cs typeface="Corbel"/>
              </a:rPr>
              <a:t>achieve</a:t>
            </a:r>
            <a:r>
              <a:rPr sz="3700" spc="-65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3700" spc="-10" dirty="0" smtClean="0">
                <a:solidFill>
                  <a:srgbClr val="FFFFFF"/>
                </a:solidFill>
                <a:latin typeface="Corbel"/>
                <a:cs typeface="Corbel"/>
              </a:rPr>
              <a:t>accuracy</a:t>
            </a:r>
            <a:r>
              <a:rPr sz="3700" spc="-10" dirty="0">
                <a:solidFill>
                  <a:srgbClr val="FFFFFF"/>
                </a:solidFill>
                <a:latin typeface="Corbel"/>
                <a:cs typeface="Corbel"/>
              </a:rPr>
              <a:t>.</a:t>
            </a:r>
            <a:endParaRPr sz="3700" dirty="0">
              <a:latin typeface="Corbel"/>
              <a:cs typeface="Corbe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0520" y="355091"/>
            <a:ext cx="8231124" cy="1808987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0" y="2363977"/>
            <a:ext cx="9144000" cy="4494530"/>
            <a:chOff x="0" y="2363977"/>
            <a:chExt cx="9144000" cy="449453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923919" y="4077079"/>
              <a:ext cx="5220081" cy="278091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923919" y="2363977"/>
              <a:ext cx="5220081" cy="2073148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2636875"/>
              <a:ext cx="4139946" cy="376707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3919" y="1171955"/>
            <a:ext cx="4791456" cy="56692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058160" algn="l"/>
              </a:tabLst>
            </a:pPr>
            <a:r>
              <a:rPr spc="-10" dirty="0"/>
              <a:t>-</a:t>
            </a:r>
            <a:r>
              <a:rPr dirty="0"/>
              <a:t>Accuracy</a:t>
            </a:r>
            <a:r>
              <a:rPr spc="-125" dirty="0"/>
              <a:t> </a:t>
            </a:r>
            <a:r>
              <a:rPr spc="-10" dirty="0" smtClean="0"/>
              <a:t>achieved</a:t>
            </a:r>
            <a:endParaRPr spc="-25" dirty="0"/>
          </a:p>
          <a:p>
            <a:pPr marL="12700">
              <a:lnSpc>
                <a:spcPct val="100000"/>
              </a:lnSpc>
            </a:pPr>
            <a:r>
              <a:rPr dirty="0"/>
              <a:t>-</a:t>
            </a:r>
            <a:r>
              <a:rPr spc="-145" dirty="0"/>
              <a:t> </a:t>
            </a:r>
            <a:r>
              <a:rPr spc="-10" dirty="0"/>
              <a:t>Confusion</a:t>
            </a:r>
            <a:r>
              <a:rPr spc="-95" dirty="0"/>
              <a:t> </a:t>
            </a:r>
            <a:r>
              <a:rPr dirty="0"/>
              <a:t>matrix</a:t>
            </a:r>
            <a:r>
              <a:rPr spc="-50" dirty="0"/>
              <a:t> </a:t>
            </a:r>
            <a:r>
              <a:rPr dirty="0"/>
              <a:t>or</a:t>
            </a:r>
            <a:r>
              <a:rPr spc="-75" dirty="0"/>
              <a:t> </a:t>
            </a:r>
            <a:r>
              <a:rPr dirty="0"/>
              <a:t>classification</a:t>
            </a:r>
            <a:r>
              <a:rPr spc="-30" dirty="0"/>
              <a:t> </a:t>
            </a:r>
            <a:r>
              <a:rPr spc="-10" dirty="0"/>
              <a:t>report: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1547622" y="3645027"/>
            <a:ext cx="6496050" cy="3024505"/>
            <a:chOff x="1547622" y="3645027"/>
            <a:chExt cx="6496050" cy="3024505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35658" y="3645027"/>
              <a:ext cx="4536440" cy="1584198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47622" y="5229174"/>
              <a:ext cx="6496050" cy="144018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3919" y="1165860"/>
            <a:ext cx="2779776" cy="443484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457301" y="3463290"/>
            <a:ext cx="8472170" cy="247567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27965" indent="-215265">
              <a:lnSpc>
                <a:spcPct val="100000"/>
              </a:lnSpc>
              <a:spcBef>
                <a:spcPts val="105"/>
              </a:spcBef>
              <a:buChar char="-"/>
              <a:tabLst>
                <a:tab pos="227965" algn="l"/>
                <a:tab pos="3008630" algn="l"/>
              </a:tabLst>
            </a:pPr>
            <a:r>
              <a:rPr sz="3200" dirty="0">
                <a:solidFill>
                  <a:srgbClr val="FFFFFF"/>
                </a:solidFill>
                <a:latin typeface="Corbel"/>
                <a:cs typeface="Corbel"/>
              </a:rPr>
              <a:t>Dataset</a:t>
            </a:r>
            <a:r>
              <a:rPr sz="3200" spc="-55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Corbel"/>
                <a:cs typeface="Corbel"/>
              </a:rPr>
              <a:t>source:</a:t>
            </a:r>
            <a:r>
              <a:rPr sz="3200" dirty="0">
                <a:solidFill>
                  <a:srgbClr val="FFFFFF"/>
                </a:solidFill>
                <a:latin typeface="Corbel"/>
                <a:cs typeface="Corbel"/>
              </a:rPr>
              <a:t>	</a:t>
            </a:r>
            <a:r>
              <a:rPr sz="3200" spc="-10" dirty="0">
                <a:solidFill>
                  <a:srgbClr val="FFFFFF"/>
                </a:solidFill>
                <a:latin typeface="Corbel"/>
                <a:cs typeface="Corbel"/>
              </a:rPr>
              <a:t>kaggle</a:t>
            </a:r>
            <a:endParaRPr sz="3200" dirty="0">
              <a:latin typeface="Corbel"/>
              <a:cs typeface="Corbel"/>
            </a:endParaRPr>
          </a:p>
          <a:p>
            <a:pPr marL="199390" indent="-186690">
              <a:lnSpc>
                <a:spcPct val="100000"/>
              </a:lnSpc>
              <a:buChar char="-"/>
              <a:tabLst>
                <a:tab pos="199390" algn="l"/>
              </a:tabLst>
            </a:pPr>
            <a:r>
              <a:rPr sz="3200" spc="-30" dirty="0">
                <a:solidFill>
                  <a:srgbClr val="FFFFFF"/>
                </a:solidFill>
                <a:latin typeface="Corbel"/>
                <a:cs typeface="Corbel"/>
              </a:rPr>
              <a:t>Tools</a:t>
            </a:r>
            <a:r>
              <a:rPr sz="3200" spc="-35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3200" dirty="0">
                <a:solidFill>
                  <a:srgbClr val="FFFFFF"/>
                </a:solidFill>
                <a:latin typeface="Corbel"/>
                <a:cs typeface="Corbel"/>
              </a:rPr>
              <a:t>used</a:t>
            </a:r>
            <a:r>
              <a:rPr sz="3200" spc="-40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3200" dirty="0">
                <a:solidFill>
                  <a:srgbClr val="FFFFFF"/>
                </a:solidFill>
                <a:latin typeface="Corbel"/>
                <a:cs typeface="Corbel"/>
              </a:rPr>
              <a:t>:</a:t>
            </a:r>
            <a:r>
              <a:rPr sz="3200" spc="-40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3200" dirty="0">
                <a:solidFill>
                  <a:srgbClr val="FFFFFF"/>
                </a:solidFill>
                <a:latin typeface="Corbel"/>
                <a:cs typeface="Corbel"/>
              </a:rPr>
              <a:t>Python,</a:t>
            </a:r>
            <a:r>
              <a:rPr sz="3200" spc="-114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Corbel"/>
                <a:cs typeface="Corbel"/>
              </a:rPr>
              <a:t>Scikit-</a:t>
            </a:r>
            <a:r>
              <a:rPr sz="3200" dirty="0">
                <a:solidFill>
                  <a:srgbClr val="FFFFFF"/>
                </a:solidFill>
                <a:latin typeface="Corbel"/>
                <a:cs typeface="Corbel"/>
              </a:rPr>
              <a:t>learn,</a:t>
            </a:r>
            <a:r>
              <a:rPr sz="3200" spc="-65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3200" spc="-75" dirty="0" smtClean="0">
                <a:solidFill>
                  <a:srgbClr val="FFFFFF"/>
                </a:solidFill>
                <a:latin typeface="Corbel"/>
                <a:cs typeface="Corbel"/>
              </a:rPr>
              <a:t>NLTK</a:t>
            </a:r>
            <a:r>
              <a:rPr lang="en-IN" sz="3200" dirty="0" smtClean="0"/>
              <a:t> </a:t>
            </a:r>
            <a:r>
              <a:rPr lang="en-IN" sz="2000" dirty="0" smtClean="0">
                <a:solidFill>
                  <a:schemeClr val="bg1"/>
                </a:solidFill>
              </a:rPr>
              <a:t>(Natural Language Toolkit)</a:t>
            </a:r>
            <a:r>
              <a:rPr sz="3200" spc="-75" dirty="0" smtClean="0">
                <a:solidFill>
                  <a:srgbClr val="FFFFFF"/>
                </a:solidFill>
                <a:latin typeface="Corbel"/>
                <a:cs typeface="Corbel"/>
              </a:rPr>
              <a:t>,</a:t>
            </a:r>
            <a:r>
              <a:rPr sz="3200" spc="-50" dirty="0" smtClean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Corbel"/>
                <a:cs typeface="Corbel"/>
              </a:rPr>
              <a:t>Gradio</a:t>
            </a:r>
            <a:r>
              <a:rPr sz="3200" spc="-10" dirty="0">
                <a:solidFill>
                  <a:srgbClr val="FFFFFF"/>
                </a:solidFill>
                <a:latin typeface="Corbel"/>
                <a:cs typeface="Corbel"/>
              </a:rPr>
              <a:t>,etc</a:t>
            </a:r>
            <a:endParaRPr sz="3200" dirty="0">
              <a:latin typeface="Corbel"/>
              <a:cs typeface="Corbel"/>
            </a:endParaRPr>
          </a:p>
          <a:p>
            <a:pPr marL="211454" indent="-198755">
              <a:lnSpc>
                <a:spcPct val="100000"/>
              </a:lnSpc>
              <a:buChar char="-"/>
              <a:tabLst>
                <a:tab pos="211454" algn="l"/>
              </a:tabLst>
            </a:pPr>
            <a:r>
              <a:rPr sz="3200" dirty="0">
                <a:solidFill>
                  <a:srgbClr val="FFFFFF"/>
                </a:solidFill>
                <a:latin typeface="Corbel"/>
                <a:cs typeface="Corbel"/>
              </a:rPr>
              <a:t>Open</a:t>
            </a:r>
            <a:r>
              <a:rPr sz="3200" spc="-20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Corbel"/>
                <a:cs typeface="Corbel"/>
              </a:rPr>
              <a:t>source</a:t>
            </a:r>
            <a:endParaRPr sz="3200" dirty="0">
              <a:latin typeface="Corbel"/>
              <a:cs typeface="Corbel"/>
            </a:endParaRPr>
          </a:p>
          <a:p>
            <a:pPr marL="12700">
              <a:lnSpc>
                <a:spcPct val="100000"/>
              </a:lnSpc>
            </a:pPr>
            <a:r>
              <a:rPr sz="3200" dirty="0">
                <a:solidFill>
                  <a:srgbClr val="FFFFFF"/>
                </a:solidFill>
                <a:latin typeface="Corbel"/>
                <a:cs typeface="Corbel"/>
              </a:rPr>
              <a:t>-IDE:</a:t>
            </a:r>
            <a:r>
              <a:rPr sz="3200" spc="-85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3200" dirty="0">
                <a:solidFill>
                  <a:srgbClr val="FFFFFF"/>
                </a:solidFill>
                <a:latin typeface="Corbel"/>
                <a:cs typeface="Corbel"/>
              </a:rPr>
              <a:t>Jupyter</a:t>
            </a:r>
            <a:r>
              <a:rPr sz="3200" spc="-15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Corbel"/>
                <a:cs typeface="Corbel"/>
              </a:rPr>
              <a:t>Notebook.</a:t>
            </a:r>
            <a:endParaRPr sz="3200" dirty="0">
              <a:latin typeface="Corbel"/>
              <a:cs typeface="Corbe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190</TotalTime>
  <Words>221</Words>
  <Application>Microsoft Office PowerPoint</Application>
  <PresentationFormat>On-screen Show (4:3)</PresentationFormat>
  <Paragraphs>42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         GOVERNMENT ENGINEERING COLLEGE                                 WEST CHAMPARAN</vt:lpstr>
      <vt:lpstr>PowerPoint Presentation</vt:lpstr>
      <vt:lpstr>PowerPoint Presentation</vt:lpstr>
      <vt:lpstr>PowerPoint Presentation</vt:lpstr>
      <vt:lpstr>pie chart showing % of Spam vs Ham:</vt:lpstr>
      <vt:lpstr>PowerPoint Presentation</vt:lpstr>
      <vt:lpstr>PowerPoint Presentation</vt:lpstr>
      <vt:lpstr>PowerPoint Presentation</vt:lpstr>
      <vt:lpstr>-Accuracy achieved - Confusion matrix or classification report: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Machine Learning Approach to Detect Spam Messages</dc:title>
  <dc:creator>Windows User</dc:creator>
  <cp:lastModifiedBy>Windows User</cp:lastModifiedBy>
  <cp:revision>7</cp:revision>
  <dcterms:created xsi:type="dcterms:W3CDTF">2025-11-04T09:32:27Z</dcterms:created>
  <dcterms:modified xsi:type="dcterms:W3CDTF">2025-11-10T12:57:26Z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2025-11-04T00:00:00Z</vt:filetime>
  </property>
  <property fmtid="{D5CDD505-2E9C-101B-9397-08002B2CF9AE}" pid="3" name="Creator">
    <vt:lpwstr>Microsoft® PowerPoint® 2010</vt:lpwstr>
  </property>
  <property fmtid="{D5CDD505-2E9C-101B-9397-08002B2CF9AE}" pid="4" name="LastSaved">
    <vt:filetime>2025-11-04T00:00:00Z</vt:filetime>
  </property>
  <property fmtid="{D5CDD505-2E9C-101B-9397-08002B2CF9AE}" pid="5" name="Producer">
    <vt:lpwstr>Microsoft® PowerPoint® 2010</vt:lpwstr>
  </property>
</Properties>
</file>